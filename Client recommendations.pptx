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A5C362-E23F-4CE5-9C6C-14A395C6CAFC}" v="1" dt="2026-02-04T15:06:26.3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327" autoAdjust="0"/>
  </p:normalViewPr>
  <p:slideViewPr>
    <p:cSldViewPr snapToGrid="0">
      <p:cViewPr varScale="1">
        <p:scale>
          <a:sx n="93" d="100"/>
          <a:sy n="93" d="100"/>
        </p:scale>
        <p:origin x="12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tya Devaraj (Student)" userId="776ddefa-a946-4c1c-a616-816eb3a0b0c0" providerId="ADAL" clId="{47D448F8-95FC-4839-8A87-29DC30051C52}"/>
    <pc:docChg chg="custSel addSld delSld modSld">
      <pc:chgData name="Nitya Devaraj (Student)" userId="776ddefa-a946-4c1c-a616-816eb3a0b0c0" providerId="ADAL" clId="{47D448F8-95FC-4839-8A87-29DC30051C52}" dt="2026-02-04T15:06:28.326" v="3193" actId="27636"/>
      <pc:docMkLst>
        <pc:docMk/>
      </pc:docMkLst>
      <pc:sldChg chg="modSp new mod">
        <pc:chgData name="Nitya Devaraj (Student)" userId="776ddefa-a946-4c1c-a616-816eb3a0b0c0" providerId="ADAL" clId="{47D448F8-95FC-4839-8A87-29DC30051C52}" dt="2026-02-04T15:06:28.326" v="3193" actId="27636"/>
        <pc:sldMkLst>
          <pc:docMk/>
          <pc:sldMk cId="2815282976" sldId="256"/>
        </pc:sldMkLst>
        <pc:spChg chg="mod">
          <ac:chgData name="Nitya Devaraj (Student)" userId="776ddefa-a946-4c1c-a616-816eb3a0b0c0" providerId="ADAL" clId="{47D448F8-95FC-4839-8A87-29DC30051C52}" dt="2026-02-04T15:06:08.025" v="3187" actId="20577"/>
          <ac:spMkLst>
            <pc:docMk/>
            <pc:sldMk cId="2815282976" sldId="256"/>
            <ac:spMk id="2" creationId="{5EC39F11-C719-C505-F8A4-3A4E07BCE614}"/>
          </ac:spMkLst>
        </pc:spChg>
        <pc:spChg chg="mod">
          <ac:chgData name="Nitya Devaraj (Student)" userId="776ddefa-a946-4c1c-a616-816eb3a0b0c0" providerId="ADAL" clId="{47D448F8-95FC-4839-8A87-29DC30051C52}" dt="2026-02-04T15:06:28.326" v="3193" actId="27636"/>
          <ac:spMkLst>
            <pc:docMk/>
            <pc:sldMk cId="2815282976" sldId="256"/>
            <ac:spMk id="3" creationId="{1E69A8E6-811C-FC74-D502-AF8256F76ED2}"/>
          </ac:spMkLst>
        </pc:spChg>
      </pc:sldChg>
      <pc:sldChg chg="addSp delSp modSp new mod modClrScheme chgLayout">
        <pc:chgData name="Nitya Devaraj (Student)" userId="776ddefa-a946-4c1c-a616-816eb3a0b0c0" providerId="ADAL" clId="{47D448F8-95FC-4839-8A87-29DC30051C52}" dt="2026-01-08T15:54:47.137" v="3125" actId="2711"/>
        <pc:sldMkLst>
          <pc:docMk/>
          <pc:sldMk cId="733243231" sldId="257"/>
        </pc:sldMkLst>
        <pc:spChg chg="mod ord">
          <ac:chgData name="Nitya Devaraj (Student)" userId="776ddefa-a946-4c1c-a616-816eb3a0b0c0" providerId="ADAL" clId="{47D448F8-95FC-4839-8A87-29DC30051C52}" dt="2026-01-08T15:54:42.157" v="3124" actId="2711"/>
          <ac:spMkLst>
            <pc:docMk/>
            <pc:sldMk cId="733243231" sldId="257"/>
            <ac:spMk id="2" creationId="{3EB943FB-DE1B-AC4C-150E-8CA95F1BAA14}"/>
          </ac:spMkLst>
        </pc:spChg>
        <pc:spChg chg="mod ord">
          <ac:chgData name="Nitya Devaraj (Student)" userId="776ddefa-a946-4c1c-a616-816eb3a0b0c0" providerId="ADAL" clId="{47D448F8-95FC-4839-8A87-29DC30051C52}" dt="2026-01-08T15:54:47.137" v="3125" actId="2711"/>
          <ac:spMkLst>
            <pc:docMk/>
            <pc:sldMk cId="733243231" sldId="257"/>
            <ac:spMk id="3" creationId="{0E5BCB2C-848C-EE7C-BD8E-484349CE8EF1}"/>
          </ac:spMkLst>
        </pc:spChg>
        <pc:picChg chg="add mod">
          <ac:chgData name="Nitya Devaraj (Student)" userId="776ddefa-a946-4c1c-a616-816eb3a0b0c0" providerId="ADAL" clId="{47D448F8-95FC-4839-8A87-29DC30051C52}" dt="2026-01-07T17:26:13.986" v="1873" actId="1076"/>
          <ac:picMkLst>
            <pc:docMk/>
            <pc:sldMk cId="733243231" sldId="257"/>
            <ac:picMk id="7" creationId="{1E99DB50-0BEF-AE3A-3F52-9834C292B62A}"/>
          </ac:picMkLst>
        </pc:picChg>
      </pc:sldChg>
      <pc:sldChg chg="addSp delSp modSp new mod modNotesTx">
        <pc:chgData name="Nitya Devaraj (Student)" userId="776ddefa-a946-4c1c-a616-816eb3a0b0c0" providerId="ADAL" clId="{47D448F8-95FC-4839-8A87-29DC30051C52}" dt="2026-01-08T15:56:06.892" v="3145" actId="255"/>
        <pc:sldMkLst>
          <pc:docMk/>
          <pc:sldMk cId="1977044229" sldId="258"/>
        </pc:sldMkLst>
        <pc:spChg chg="mod">
          <ac:chgData name="Nitya Devaraj (Student)" userId="776ddefa-a946-4c1c-a616-816eb3a0b0c0" providerId="ADAL" clId="{47D448F8-95FC-4839-8A87-29DC30051C52}" dt="2026-01-08T15:54:53.597" v="3126" actId="2711"/>
          <ac:spMkLst>
            <pc:docMk/>
            <pc:sldMk cId="1977044229" sldId="258"/>
            <ac:spMk id="2" creationId="{967E9215-A311-EDAB-7A96-0441A1195A38}"/>
          </ac:spMkLst>
        </pc:spChg>
        <pc:spChg chg="mod">
          <ac:chgData name="Nitya Devaraj (Student)" userId="776ddefa-a946-4c1c-a616-816eb3a0b0c0" providerId="ADAL" clId="{47D448F8-95FC-4839-8A87-29DC30051C52}" dt="2026-01-08T15:56:06.892" v="3145" actId="255"/>
          <ac:spMkLst>
            <pc:docMk/>
            <pc:sldMk cId="1977044229" sldId="258"/>
            <ac:spMk id="3" creationId="{15A8C5C8-A4CE-6DE0-130D-345CAD33C0E7}"/>
          </ac:spMkLst>
        </pc:spChg>
        <pc:picChg chg="add mod">
          <ac:chgData name="Nitya Devaraj (Student)" userId="776ddefa-a946-4c1c-a616-816eb3a0b0c0" providerId="ADAL" clId="{47D448F8-95FC-4839-8A87-29DC30051C52}" dt="2026-01-08T15:12:29.924" v="2845" actId="14100"/>
          <ac:picMkLst>
            <pc:docMk/>
            <pc:sldMk cId="1977044229" sldId="258"/>
            <ac:picMk id="5" creationId="{305D96FC-8223-ECFE-D259-CB33F65F9C68}"/>
          </ac:picMkLst>
        </pc:picChg>
        <pc:picChg chg="add mod">
          <ac:chgData name="Nitya Devaraj (Student)" userId="776ddefa-a946-4c1c-a616-816eb3a0b0c0" providerId="ADAL" clId="{47D448F8-95FC-4839-8A87-29DC30051C52}" dt="2026-01-08T15:12:21.584" v="2843" actId="1076"/>
          <ac:picMkLst>
            <pc:docMk/>
            <pc:sldMk cId="1977044229" sldId="258"/>
            <ac:picMk id="7" creationId="{B14AA40D-8FC6-3FEB-00E1-29699DD740C9}"/>
          </ac:picMkLst>
        </pc:picChg>
      </pc:sldChg>
      <pc:sldChg chg="addSp modSp new mod">
        <pc:chgData name="Nitya Devaraj (Student)" userId="776ddefa-a946-4c1c-a616-816eb3a0b0c0" providerId="ADAL" clId="{47D448F8-95FC-4839-8A87-29DC30051C52}" dt="2026-01-08T15:59:45.862" v="3162" actId="1076"/>
        <pc:sldMkLst>
          <pc:docMk/>
          <pc:sldMk cId="3647202917" sldId="259"/>
        </pc:sldMkLst>
        <pc:spChg chg="mod">
          <ac:chgData name="Nitya Devaraj (Student)" userId="776ddefa-a946-4c1c-a616-816eb3a0b0c0" providerId="ADAL" clId="{47D448F8-95FC-4839-8A87-29DC30051C52}" dt="2026-01-08T15:59:45.862" v="3162" actId="1076"/>
          <ac:spMkLst>
            <pc:docMk/>
            <pc:sldMk cId="3647202917" sldId="259"/>
            <ac:spMk id="2" creationId="{E251AEC6-730D-34C0-6CE5-FCF916F9B80A}"/>
          </ac:spMkLst>
        </pc:spChg>
        <pc:spChg chg="mod">
          <ac:chgData name="Nitya Devaraj (Student)" userId="776ddefa-a946-4c1c-a616-816eb3a0b0c0" providerId="ADAL" clId="{47D448F8-95FC-4839-8A87-29DC30051C52}" dt="2026-01-08T15:59:27.589" v="3160" actId="1076"/>
          <ac:spMkLst>
            <pc:docMk/>
            <pc:sldMk cId="3647202917" sldId="259"/>
            <ac:spMk id="3" creationId="{CEB9B591-703E-5C6C-3458-2CAB154F53D4}"/>
          </ac:spMkLst>
        </pc:spChg>
        <pc:picChg chg="add mod">
          <ac:chgData name="Nitya Devaraj (Student)" userId="776ddefa-a946-4c1c-a616-816eb3a0b0c0" providerId="ADAL" clId="{47D448F8-95FC-4839-8A87-29DC30051C52}" dt="2026-01-08T15:09:25.237" v="2820" actId="1076"/>
          <ac:picMkLst>
            <pc:docMk/>
            <pc:sldMk cId="3647202917" sldId="259"/>
            <ac:picMk id="5" creationId="{B6D4C9A9-DB9D-AF6D-2172-D4779811793C}"/>
          </ac:picMkLst>
        </pc:picChg>
        <pc:picChg chg="add mod">
          <ac:chgData name="Nitya Devaraj (Student)" userId="776ddefa-a946-4c1c-a616-816eb3a0b0c0" providerId="ADAL" clId="{47D448F8-95FC-4839-8A87-29DC30051C52}" dt="2026-01-08T15:09:41.444" v="2822" actId="14100"/>
          <ac:picMkLst>
            <pc:docMk/>
            <pc:sldMk cId="3647202917" sldId="259"/>
            <ac:picMk id="7" creationId="{D28B8CC4-3922-EC17-29C1-A14769C14AF2}"/>
          </ac:picMkLst>
        </pc:picChg>
      </pc:sldChg>
      <pc:sldChg chg="addSp delSp modSp new mod modNotesTx">
        <pc:chgData name="Nitya Devaraj (Student)" userId="776ddefa-a946-4c1c-a616-816eb3a0b0c0" providerId="ADAL" clId="{47D448F8-95FC-4839-8A87-29DC30051C52}" dt="2026-01-08T15:58:00.884" v="3156" actId="1076"/>
        <pc:sldMkLst>
          <pc:docMk/>
          <pc:sldMk cId="548767133" sldId="260"/>
        </pc:sldMkLst>
        <pc:spChg chg="mod">
          <ac:chgData name="Nitya Devaraj (Student)" userId="776ddefa-a946-4c1c-a616-816eb3a0b0c0" providerId="ADAL" clId="{47D448F8-95FC-4839-8A87-29DC30051C52}" dt="2026-01-08T15:57:19.901" v="3149" actId="2711"/>
          <ac:spMkLst>
            <pc:docMk/>
            <pc:sldMk cId="548767133" sldId="260"/>
            <ac:spMk id="2" creationId="{593F41B7-3ECB-5A88-A02A-4C1B6D36E6BD}"/>
          </ac:spMkLst>
        </pc:spChg>
        <pc:spChg chg="mod">
          <ac:chgData name="Nitya Devaraj (Student)" userId="776ddefa-a946-4c1c-a616-816eb3a0b0c0" providerId="ADAL" clId="{47D448F8-95FC-4839-8A87-29DC30051C52}" dt="2026-01-08T15:58:00.884" v="3156" actId="1076"/>
          <ac:spMkLst>
            <pc:docMk/>
            <pc:sldMk cId="548767133" sldId="260"/>
            <ac:spMk id="3" creationId="{1AF85D36-4ED6-D54A-5EA2-1B2B47C6DD23}"/>
          </ac:spMkLst>
        </pc:spChg>
        <pc:picChg chg="add mod">
          <ac:chgData name="Nitya Devaraj (Student)" userId="776ddefa-a946-4c1c-a616-816eb3a0b0c0" providerId="ADAL" clId="{47D448F8-95FC-4839-8A87-29DC30051C52}" dt="2026-01-08T15:45:26.445" v="3120" actId="1076"/>
          <ac:picMkLst>
            <pc:docMk/>
            <pc:sldMk cId="548767133" sldId="260"/>
            <ac:picMk id="7" creationId="{2A317F55-58EA-B9F8-FF37-E141506AEAE0}"/>
          </ac:picMkLst>
        </pc:picChg>
        <pc:picChg chg="add mod">
          <ac:chgData name="Nitya Devaraj (Student)" userId="776ddefa-a946-4c1c-a616-816eb3a0b0c0" providerId="ADAL" clId="{47D448F8-95FC-4839-8A87-29DC30051C52}" dt="2026-01-08T15:45:17.612" v="3119" actId="14100"/>
          <ac:picMkLst>
            <pc:docMk/>
            <pc:sldMk cId="548767133" sldId="260"/>
            <ac:picMk id="9" creationId="{CF9338F9-3631-3826-B501-DD4166DCC1D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E9F2B6-5472-4EF5-B943-0895BE3BB4E2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36982D-E53C-4948-A990-0A01C899D6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4425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EDA approach</a:t>
            </a:r>
          </a:p>
          <a:p>
            <a:pPr lvl="1"/>
            <a:r>
              <a:rPr lang="en-GB" dirty="0"/>
              <a:t>Scrape relevant data (2019-22 usage stats) from TfL website</a:t>
            </a:r>
          </a:p>
          <a:p>
            <a:pPr lvl="1"/>
            <a:r>
              <a:rPr lang="en-GB" dirty="0"/>
              <a:t>Read and combine all the data asynchronously (31M records) into a parquet file so can be reused</a:t>
            </a:r>
          </a:p>
          <a:p>
            <a:pPr lvl="1"/>
            <a:r>
              <a:rPr lang="en-GB" dirty="0"/>
              <a:t>Remove outliers based on threshold for duration (only considered journeys less than 24h to focus on short term rentals)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36982D-E53C-4948-A990-0A01C899D69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2143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usage as well as customer patterns/classification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36982D-E53C-4948-A990-0A01C899D69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97500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Problem</a:t>
            </a:r>
            <a:r>
              <a:rPr lang="en-US" dirty="0"/>
              <a:t>: Station imbalance causes availability issues &amp; operational inefficiency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Problem</a:t>
            </a:r>
            <a:r>
              <a:rPr lang="en-US" dirty="0"/>
              <a:t>: Two distinct customer types with different needs &amp; willingness to pay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36982D-E53C-4948-A990-0A01C899D69D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3782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2F993-EEFD-B27A-2631-B2F4D1868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D41F0E-DDF4-A91A-6AE8-C653A03AE6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72716-9695-6098-8351-69F33733E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4D39-332C-44D1-9649-0D14AF35E3B8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F88DC-9664-1366-91AF-13C11ED69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A6197-5639-7D38-3BCF-AC4521B83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EB438-92EF-4F53-8EC6-3944DDC967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6025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391E0-4D28-7DF2-948F-3E4EE6E1F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23C2A-1C54-9EEF-F4A8-B892B2F46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D8AB2-521F-CF2B-BFE4-432234B88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4D39-332C-44D1-9649-0D14AF35E3B8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9FADE-1249-7288-8B67-18327CDA4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D8A0B-B8FE-EDD9-B184-9D9F5FDFC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EB438-92EF-4F53-8EC6-3944DDC967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5531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68DDB-FB33-65CE-56D3-5C34BB782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6C38D-65D9-13B8-A47C-00D967976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BB3E9-4CC8-CFA9-1302-24B259058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4D39-332C-44D1-9649-0D14AF35E3B8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91721-4675-E26A-2394-AC767D6E4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B8587-B4FD-30F5-9A9B-3103A3FA1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EB438-92EF-4F53-8EC6-3944DDC967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0940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F2AD3-BC36-300C-8902-AB40030A1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46D86-3704-BB3B-63EF-8CEA8D38BA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470786-D078-EF9E-7C1D-6FC7593CD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B3C621-E867-1942-2048-9C933F950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4D39-332C-44D1-9649-0D14AF35E3B8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C6AB3-DE12-E4E2-77EB-42DBB531C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8DD0C-7808-CCCA-1FEB-05759353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EB438-92EF-4F53-8EC6-3944DDC967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4256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96543-C3EF-F43E-8AC2-1C124D96A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CBFEA-F613-98B3-B032-0B4C2FB5B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513CD7-892F-6723-121E-F855FC98D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3FEBD4-AAE7-24CD-A64A-6001C32F35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7422C7-0453-24E1-8AEB-CBC8E441A9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A68C8C-FF9B-3C50-7138-0B2B6181F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4D39-332C-44D1-9649-0D14AF35E3B8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14F7F-264F-B3AF-A8E6-5DC3C0E8D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7BF9AD-2C70-BD18-9E56-DE9BFFACC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EB438-92EF-4F53-8EC6-3944DDC967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8294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795D1-5D39-2DEF-DEC1-BE59BB1B5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76B2B5-76DA-597B-64D8-83CBDBD3B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4D39-332C-44D1-9649-0D14AF35E3B8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DD41A9-8B98-1F09-A9BA-84474431E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302AEC-CBB3-C0D3-7A74-6E241AA4A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EB438-92EF-4F53-8EC6-3944DDC967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3246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228ABC-0036-7F58-B134-416C8025F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4D39-332C-44D1-9649-0D14AF35E3B8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DF2027-D050-EABE-45B0-A01035BF8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1C856E-E389-CCB5-68AB-7B7D5912D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EB438-92EF-4F53-8EC6-3944DDC967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624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D964C-6E6E-491A-D192-2D131DAD1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85CD5-89A4-1812-B3FC-936FB0C17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26D366-D92E-69E3-9B33-5D5A11C30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6C4F2-8D6F-E685-655A-DABB013A8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4D39-332C-44D1-9649-0D14AF35E3B8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23E275-4EB7-36BB-ED9C-C7C11A8FF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8ADF03-B44D-686D-BA00-94C5A6145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EB438-92EF-4F53-8EC6-3944DDC967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16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E5FB2-B812-8073-2FF6-6BFBF0EB8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A9D61E-E051-E1C3-4A1B-4D7A88A4D2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8453E6-B077-A961-DE09-7329EB39D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5DD3F-7CF2-9265-E0B9-3CEB2A7C1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4D39-332C-44D1-9649-0D14AF35E3B8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35B9AF-0288-58E5-AC1A-A274A14F7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3F3E5-8615-3CF3-1C56-767F147C0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EB438-92EF-4F53-8EC6-3944DDC967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7343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40D02-EBD7-56EF-3FEB-2CCD18580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E182D1-8A71-94B7-B265-67962C71DC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33681-9E1B-6553-F010-DA0A9ADCA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4D39-332C-44D1-9649-0D14AF35E3B8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989F6-4AA2-AB53-F23E-4FDB19A7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A09EB-EA72-BA44-1F6B-79EE556B4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EB438-92EF-4F53-8EC6-3944DDC967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699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DD93EC-B3A7-1E60-077F-9B16F44803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27A2B5-E8D7-C08D-23A5-A6F1549BF8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C0B1B-D3E0-6FD6-17CE-6C2C9D014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4D39-332C-44D1-9649-0D14AF35E3B8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C882F-F09E-6CFB-C72E-55A6D9387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A4898-9308-0FF4-8FCA-7DF5C9B23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EB438-92EF-4F53-8EC6-3944DDC967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6864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A66031-872A-23AE-B5A6-448C41EF4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01381-185A-6283-F8BD-CE271B602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5A8CA-CFC6-E09E-2460-3EEA0FD5D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DA4D39-332C-44D1-9649-0D14AF35E3B8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5DC25-60C0-F9AF-14DC-4E4E62A914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27F6A-D2A3-51FB-318E-04FD89E57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1EB438-92EF-4F53-8EC6-3944DDC967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586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39F11-C719-C505-F8A4-3A4E07BCE6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Bike Demand Forecasting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69A8E6-811C-FC74-D502-AF8256F76E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learning model for predicting bike-sharing demand using time series analysis and seasonal decomposition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Nitya Devaraj</a:t>
            </a:r>
          </a:p>
        </p:txBody>
      </p:sp>
    </p:spTree>
    <p:extLst>
      <p:ext uri="{BB962C8B-B14F-4D97-AF65-F5344CB8AC3E}">
        <p14:creationId xmlns:p14="http://schemas.microsoft.com/office/powerpoint/2010/main" val="2815282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943FB-DE1B-AC4C-150E-8CA95F1BA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Data overview (2019-2021)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BCB2C-848C-EE7C-BD8E-484349CE8E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249" y="1418617"/>
            <a:ext cx="5953018" cy="5530672"/>
          </a:xfrm>
        </p:spPr>
        <p:txBody>
          <a:bodyPr>
            <a:normAutofit fontScale="70000" lnSpcReduction="20000"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EDA Outcomes</a:t>
            </a:r>
          </a:p>
          <a:p>
            <a:pPr lvl="1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Infrastructure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: 17,766 unique bikes</a:t>
            </a:r>
          </a:p>
          <a:p>
            <a:pPr lvl="1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Scale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: ~10 million journeys per year</a:t>
            </a:r>
          </a:p>
          <a:p>
            <a:pPr lvl="1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Consistent Demand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Only 11% variation between busiest and quietest days</a:t>
            </a:r>
          </a:p>
          <a:p>
            <a:pPr lvl="1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Short-Term Usage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87% of journeys ≤ 30 minutes</a:t>
            </a:r>
          </a:p>
          <a:p>
            <a:pPr lvl="1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Post-COVID Growth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5.5% increase in journeys per day</a:t>
            </a:r>
          </a:p>
          <a:p>
            <a:pPr lvl="1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Commuter Pattern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Peaks at 7–9am and 4–8pm</a:t>
            </a:r>
          </a:p>
          <a:p>
            <a:pPr lvl="1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Operational Insight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Bikes need redistribution before 7am; low overnight usage = maintenance window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Data science use cases</a:t>
            </a:r>
          </a:p>
          <a:p>
            <a:pPr lvl="1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Demand Forecasting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Predict hourly/daily demand per station for fleet sizing, pricing, etc.</a:t>
            </a:r>
          </a:p>
          <a:p>
            <a:pPr lvl="1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Bike Redistribution Optimization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Predict where bikes accumulate/deplete to improve availability and reduce costs</a:t>
            </a:r>
          </a:p>
          <a:p>
            <a:pPr lvl="1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Customer Segmentation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Identify user types (commuter, leisure, tourist) for targeted marketing and products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1E99DB50-0BEF-AE3A-3F52-9834C292B62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93267" y="2381230"/>
            <a:ext cx="5599186" cy="360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243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E9215-A311-EDAB-7A96-0441A1195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389" y="363844"/>
            <a:ext cx="10079804" cy="1126990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Usage pattern- customer behaviour and seasonality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8C5C8-A4CE-6DE0-130D-345CAD33C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347" y="1807149"/>
            <a:ext cx="5647363" cy="5287157"/>
          </a:xfrm>
        </p:spPr>
        <p:txBody>
          <a:bodyPr>
            <a:norm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Seasonal demand patterns</a:t>
            </a:r>
          </a:p>
          <a:p>
            <a:pPr lvl="1"/>
            <a:r>
              <a:rPr lang="en-GB" sz="1700" dirty="0">
                <a:latin typeface="Arial" panose="020B0604020202020204" pitchFamily="34" charset="0"/>
                <a:cs typeface="Arial" panose="020B0604020202020204" pitchFamily="34" charset="0"/>
              </a:rPr>
              <a:t>Summer: highest demand (scale fleet +20%)</a:t>
            </a:r>
          </a:p>
          <a:p>
            <a:pPr lvl="1"/>
            <a:r>
              <a:rPr lang="en-GB" sz="1700" dirty="0">
                <a:latin typeface="Arial" panose="020B0604020202020204" pitchFamily="34" charset="0"/>
                <a:cs typeface="Arial" panose="020B0604020202020204" pitchFamily="34" charset="0"/>
              </a:rPr>
              <a:t>Spring: longest ride duration (leisure behaviour)</a:t>
            </a:r>
          </a:p>
          <a:p>
            <a:pPr lvl="1"/>
            <a:r>
              <a:rPr lang="en-GB" sz="1700" dirty="0">
                <a:latin typeface="Arial" panose="020B0604020202020204" pitchFamily="34" charset="0"/>
                <a:cs typeface="Arial" panose="020B0604020202020204" pitchFamily="34" charset="0"/>
              </a:rPr>
              <a:t>Autumn/Winter: shorter commuter dominated rides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Customer segments</a:t>
            </a:r>
          </a:p>
          <a:p>
            <a:pPr lvl="1"/>
            <a:r>
              <a:rPr lang="en-GB" sz="1700" dirty="0">
                <a:latin typeface="Arial" panose="020B0604020202020204" pitchFamily="34" charset="0"/>
                <a:cs typeface="Arial" panose="020B0604020202020204" pitchFamily="34" charset="0"/>
              </a:rPr>
              <a:t>Two distinct user types with different needs</a:t>
            </a:r>
          </a:p>
          <a:p>
            <a:pPr lvl="1"/>
            <a:r>
              <a:rPr lang="en-GB" sz="1700" dirty="0">
                <a:latin typeface="Arial" panose="020B0604020202020204" pitchFamily="34" charset="0"/>
                <a:cs typeface="Arial" panose="020B0604020202020204" pitchFamily="34" charset="0"/>
              </a:rPr>
              <a:t>Commuters</a:t>
            </a:r>
          </a:p>
          <a:p>
            <a:pPr lvl="1"/>
            <a:r>
              <a:rPr lang="en-GB" sz="1700" dirty="0">
                <a:latin typeface="Arial" panose="020B0604020202020204" pitchFamily="34" charset="0"/>
                <a:cs typeface="Arial" panose="020B0604020202020204" pitchFamily="34" charset="0"/>
              </a:rPr>
              <a:t>Leisure users: Round trip journeys at parks/tourist areas</a:t>
            </a:r>
          </a:p>
          <a:p>
            <a:pPr lvl="1"/>
            <a:r>
              <a:rPr lang="en-GB" sz="1700" dirty="0">
                <a:latin typeface="Arial" panose="020B0604020202020204" pitchFamily="34" charset="0"/>
                <a:cs typeface="Arial" panose="020B0604020202020204" pitchFamily="34" charset="0"/>
              </a:rPr>
              <a:t>5.3% of all journeys are same station round trips</a:t>
            </a:r>
          </a:p>
          <a:p>
            <a:pPr lvl="1"/>
            <a:r>
              <a:rPr lang="en-GB" sz="1700" dirty="0">
                <a:latin typeface="Arial" panose="020B0604020202020204" pitchFamily="34" charset="0"/>
                <a:cs typeface="Arial" panose="020B0604020202020204" pitchFamily="34" charset="0"/>
              </a:rPr>
              <a:t>Hotspots: Hyde Park, Kensington Gardens, Olympic Park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5D96FC-8223-ECFE-D259-CB33F65F9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266" y="3429000"/>
            <a:ext cx="5507805" cy="34347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4AA40D-8FC6-3FEB-00E1-29699DD740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710" y="865210"/>
            <a:ext cx="5647362" cy="2563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044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1AEC6-730D-34C0-6CE5-FCF916F9B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394" y="0"/>
            <a:ext cx="10515600" cy="1325563"/>
          </a:xfrm>
        </p:spPr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Demand Forecasting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B9B591-703E-5C6C-3458-2CAB154F53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5508" y="1612310"/>
                <a:ext cx="5122039" cy="5486401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GB" sz="2300" dirty="0">
                    <a:latin typeface="Arial" panose="020B0604020202020204" pitchFamily="34" charset="0"/>
                    <a:cs typeface="Arial" panose="020B0604020202020204" pitchFamily="34" charset="0"/>
                  </a:rPr>
                  <a:t>Model performance</a:t>
                </a:r>
              </a:p>
              <a:p>
                <a:pPr lvl="1"/>
                <a:r>
                  <a:rPr lang="en-GB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XGBoost model predicts hourly demand with 96% accuracy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= 0.966)</a:t>
                </a:r>
              </a:p>
              <a:p>
                <a:pPr lvl="1"/>
                <a:r>
                  <a:rPr lang="en-GB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Visual 1- actual vs predicted line chart (2-week sample)</a:t>
                </a:r>
              </a:p>
              <a:p>
                <a:r>
                  <a:rPr lang="en-GB" sz="2300" dirty="0">
                    <a:latin typeface="Arial" panose="020B0604020202020204" pitchFamily="34" charset="0"/>
                    <a:cs typeface="Arial" panose="020B0604020202020204" pitchFamily="34" charset="0"/>
                  </a:rPr>
                  <a:t>Demand patterns for operations</a:t>
                </a:r>
              </a:p>
              <a:p>
                <a:pPr lvl="1"/>
                <a:r>
                  <a:rPr lang="en-GB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Visual 2- predicted hourly demand heatmap by day of week</a:t>
                </a:r>
              </a:p>
              <a:p>
                <a:pPr lvl="1"/>
                <a:r>
                  <a:rPr lang="en-GB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Weekday commuter peaks and weekend midday patterns</a:t>
                </a:r>
              </a:p>
              <a:p>
                <a:pPr lvl="1"/>
                <a:r>
                  <a:rPr lang="en-GB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Identifies optimal redistribution windows</a:t>
                </a:r>
              </a:p>
              <a:p>
                <a:r>
                  <a:rPr lang="en-GB" sz="2300" dirty="0">
                    <a:latin typeface="Arial" panose="020B0604020202020204" pitchFamily="34" charset="0"/>
                    <a:cs typeface="Arial" panose="020B0604020202020204" pitchFamily="34" charset="0"/>
                  </a:rPr>
                  <a:t>Business application</a:t>
                </a:r>
              </a:p>
              <a:p>
                <a:pPr lvl="1"/>
                <a:r>
                  <a:rPr lang="en-GB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Fleet Sizing</a:t>
                </a:r>
                <a:r>
                  <a:rPr lang="en-GB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: Predict peak demand to determine required inventory + buffer</a:t>
                </a:r>
              </a:p>
              <a:p>
                <a:pPr lvl="1"/>
                <a:r>
                  <a:rPr lang="en-GB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Staff Scheduling</a:t>
                </a:r>
                <a:r>
                  <a:rPr lang="en-GB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: Deploy redistribution crews during demand valleys (10PM-6AM)</a:t>
                </a:r>
              </a:p>
              <a:p>
                <a:pPr lvl="1"/>
                <a:r>
                  <a:rPr lang="en-GB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Dynamic Pricing</a:t>
                </a:r>
                <a:r>
                  <a:rPr lang="en-GB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: Increase prices during predicted high-demand periods</a:t>
                </a:r>
              </a:p>
              <a:p>
                <a:pPr lvl="1"/>
                <a:r>
                  <a:rPr lang="en-GB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Bike Redistribution</a:t>
                </a:r>
                <a:r>
                  <a:rPr lang="en-GB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: Pre-position bikes before morning/evening rushes</a:t>
                </a:r>
              </a:p>
              <a:p>
                <a:r>
                  <a:rPr lang="en-GB" sz="2300" dirty="0">
                    <a:latin typeface="Arial" panose="020B0604020202020204" pitchFamily="34" charset="0"/>
                    <a:cs typeface="Arial" panose="020B0604020202020204" pitchFamily="34" charset="0"/>
                  </a:rPr>
                  <a:t>Next Steps</a:t>
                </a:r>
              </a:p>
              <a:p>
                <a:pPr lvl="1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Integrate weather/events data for improved accuracy</a:t>
                </a:r>
              </a:p>
              <a:p>
                <a:pPr lvl="1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Deploy as real-time API for live operational decisions</a:t>
                </a:r>
                <a:endParaRPr lang="en-GB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B9B591-703E-5C6C-3458-2CAB154F53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5508" y="1612310"/>
                <a:ext cx="5122039" cy="5486401"/>
              </a:xfrm>
              <a:blipFill>
                <a:blip r:embed="rId2"/>
                <a:stretch>
                  <a:fillRect l="-476" t="-1556" r="-2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6D4C9A9-DB9D-AF6D-2172-D47798117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194" y="1130157"/>
            <a:ext cx="6618258" cy="32253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8B8CC4-3922-EC17-29C1-A14769C14A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7901" y="4209733"/>
            <a:ext cx="7024099" cy="250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202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F41B7-3ECB-5A88-A02A-4C1B6D36E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85D36-4ED6-D54A-5EA2-1B2B47C6D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188"/>
            <a:ext cx="5367391" cy="5766978"/>
          </a:xfrm>
        </p:spPr>
        <p:txBody>
          <a:bodyPr>
            <a:normAutofit fontScale="55000" lnSpcReduction="20000"/>
          </a:bodyPr>
          <a:lstStyle/>
          <a:p>
            <a:r>
              <a:rPr lang="en-GB" dirty="0"/>
              <a:t>1.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Optimise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bike redistribution</a:t>
            </a:r>
          </a:p>
          <a:p>
            <a:pPr lvl="1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Strategy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Combine station imbalance data + hourly demand forecasts</a:t>
            </a:r>
          </a:p>
          <a:p>
            <a:pPr lvl="1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Actions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Pre-position bikes at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source stations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before 7AM rush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Deploy collection crews at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sink stations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overnight 10PM-6AM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Prioritise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top 10 imbalanced stations (80% of redistribution need)</a:t>
            </a:r>
          </a:p>
          <a:p>
            <a:pPr lvl="1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Visual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Station imbalance bar chart (sources vs sinks)</a:t>
            </a:r>
          </a:p>
          <a:p>
            <a:pPr lvl="1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↓ operational costs, ↑ bike availability, ↑ customer satisfaction</a:t>
            </a:r>
          </a:p>
          <a:p>
            <a:pPr marL="457200" lvl="1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Customer-Segmented Pricing Strategy</a:t>
            </a:r>
          </a:p>
          <a:p>
            <a:pPr lvl="1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Strategy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Two products for two distinct user types</a:t>
            </a:r>
          </a:p>
          <a:p>
            <a:pPr lvl="1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Actions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Commuter Pass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Flat monthly fee for unlimited 30-min rides (87% of journeys qualify)</a:t>
            </a: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Target: Weekday 7-9am, 4-8pm users</a:t>
            </a:r>
          </a:p>
          <a:p>
            <a:pPr lvl="1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Leisure Premium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Higher per-ride pricing, round-trip/park stations</a:t>
            </a: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Target: Weekend users, tourists, round-trip journeys (longer duration = higher revenue, see slide 3)</a:t>
            </a:r>
          </a:p>
          <a:p>
            <a:pPr lvl="1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Dynamic Pricing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Surge pricing during predicted peak hours (6-8PM weekdays)</a:t>
            </a:r>
          </a:p>
          <a:p>
            <a:pPr lvl="1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↑ revenue per journey, ↑ customer retention (locked-in commuters),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optimised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capacity</a:t>
            </a:r>
          </a:p>
          <a:p>
            <a:endParaRPr lang="en-US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317F55-58EA-B9F8-FF37-E141506AE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591" y="183712"/>
            <a:ext cx="3334866" cy="34327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9338F9-3631-3826-B501-DD4166DCC1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8373" y="3425036"/>
            <a:ext cx="3633627" cy="343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767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607</Words>
  <Application>Microsoft Office PowerPoint</Application>
  <PresentationFormat>Widescreen</PresentationFormat>
  <Paragraphs>73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Office Theme</vt:lpstr>
      <vt:lpstr>Bike Demand Forecasting</vt:lpstr>
      <vt:lpstr>Data overview (2019-2021)</vt:lpstr>
      <vt:lpstr>Usage pattern- customer behaviour and seasonality </vt:lpstr>
      <vt:lpstr>Demand Forecasting Model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Devaraj, Nitya (SMO UKI RC-GB RI PE CSYS 1 3)</dc:creator>
  <cp:lastModifiedBy>Devaraj, Nitya (SMO UKI RC-GB RI PE CSYS 1 3)</cp:lastModifiedBy>
  <cp:revision>1</cp:revision>
  <dcterms:created xsi:type="dcterms:W3CDTF">2026-01-07T16:53:41Z</dcterms:created>
  <dcterms:modified xsi:type="dcterms:W3CDTF">2026-02-04T15:06:33Z</dcterms:modified>
</cp:coreProperties>
</file>